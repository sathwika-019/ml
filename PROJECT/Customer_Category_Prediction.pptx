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3" r:id="rId14"/>
    <p:sldId id="257" r:id="rId3"/>
    <p:sldId id="258" r:id="rId4"/>
    <p:sldId id="264" r:id="rId15"/>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  <Relationship Id="rId14" Type="http://schemas.openxmlformats.org/officeDocument/2006/relationships/slide" Target="slides/slide8.xml"/>
  <Relationship Id="rId15" Type="http://schemas.openxmlformats.org/officeDocument/2006/relationships/slide" Target="slides/slide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1280160"/>
          </a:xfrm>
          <a:prstGeom prst="rect">
            <a:avLst/>
          </a:prstGeom>
          <a:noFill/>
          <a:ln/>
        </p:spPr>
        <p:txBody>
          <a:bodyPr wrap="square" lIns="0" tIns="0" rIns="0" bIns="0" rtlCol="0" anchor="ctr"/>
          <a:lstStyle/>
          <a:p>
            <a:pPr indent="0" marL="0">
              <a:buNone/>
            </a:pPr>
            <a:r>
              <a:rPr lang="en-US" sz="3800" b="1" dirty="0">
                <a:solidFill>
                  <a:srgbClr val="FFFFFF"/>
                </a:solidFill>
              </a:rPr>
              <a:t>Multi-Class Customer Category Prediction</a:t>
            </a:r>
            <a:endParaRPr lang="en-US" sz="3800" dirty="0"/>
          </a:p>
        </p:txBody>
      </p:sp>
      <p:sp>
        <p:nvSpPr>
          <p:cNvPr id="3" name="Text 1"/>
          <p:cNvSpPr txBox="1"/>
          <p:nvPr/>
        </p:nvSpPr>
        <p:spPr>
          <a:xfrm>
            <a:off x="640080" y="2743200"/>
            <a:ext cx="7863840" cy="731520"/>
          </a:xfrm>
          <a:prstGeom prst="rect">
            <a:avLst/>
          </a:prstGeom>
          <a:noFill/>
          <a:ln/>
        </p:spPr>
        <p:txBody>
          <a:bodyPr wrap="square" lIns="0" tIns="0" rIns="0" bIns="0" rtlCol="0" anchor="ctr"/>
          <a:lstStyle/>
          <a:p>
            <a:pPr indent="0" marL="0">
              <a:buNone/>
            </a:pPr>
            <a:r>
              <a:rPr lang="en-US" sz="1800" dirty="0">
                <a:solidFill>
                  <a:srgbClr val="BFD7EA"/>
                </a:solidFill>
              </a:rPr>
              <a:t>Predicting customer category from purchase behavior using machine learning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AB"/>
          </a:solidFill>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Problem &amp; Objective</a:t>
            </a:r>
            <a:endParaRPr lang="en-US" sz="2800" dirty="0"/>
          </a:p>
        </p:txBody>
      </p:sp>
      <p:sp>
        <p:nvSpPr>
          <p:cNvPr id="4" name="Text 2"/>
          <p:cNvSpPr txBox="1"/>
          <p:nvPr/>
        </p:nvSpPr>
        <p:spPr>
          <a:xfrm>
            <a:off x="548640" y="1280160"/>
            <a:ext cx="8046720" cy="3291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5A6372"/>
                </a:solidFill>
              </a:rPr>
              <a:t>Businesses treat all customers alike, missing chances to personalize offers</a:t>
            </a:r>
            <a:endParaRPr lang="en-US" sz="1800" dirty="0"/>
          </a:p>
          <a:p>
            <a:pPr marL="342900" indent="-342900">
              <a:spcAft>
                <a:spcPts val="800"/>
              </a:spcAft>
              <a:buSzPct val="100000"/>
              <a:buChar char="•"/>
            </a:pPr>
            <a:r>
              <a:rPr lang="en-US" sz="1800" dirty="0">
                <a:solidFill>
                  <a:srgbClr val="5A6372"/>
                </a:solidFill>
              </a:rPr>
              <a:t>Goal: classify each customer into one of several categories from behavioral data</a:t>
            </a:r>
            <a:endParaRPr lang="en-US" sz="1800" dirty="0"/>
          </a:p>
          <a:p>
            <a:pPr marL="342900" indent="-342900">
              <a:spcAft>
                <a:spcPts val="800"/>
              </a:spcAft>
              <a:buSzPct val="100000"/>
              <a:buChar char="•"/>
            </a:pPr>
            <a:r>
              <a:rPr lang="en-US" sz="1800" dirty="0">
                <a:solidFill>
                  <a:srgbClr val="5A6372"/>
                </a:solidFill>
              </a:rPr>
              <a:t>Enables targeted marketing, retention strategies and better recommendations</a:t>
            </a:r>
            <a:endParaRPr lang="en-US" sz="1800" dirty="0"/>
          </a:p>
          <a:p>
            <a:pPr marL="342900" indent="-342900">
              <a:spcAft>
                <a:spcPts val="800"/>
              </a:spcAft>
              <a:buSzPct val="100000"/>
              <a:buChar char="•"/>
            </a:pPr>
            <a:r>
              <a:rPr lang="en-US" sz="1800" dirty="0">
                <a:solidFill>
                  <a:srgbClr val="5A6372"/>
                </a:solidFill>
              </a:rPr>
              <a:t>Deliverable: a trained multi-class model served through an interactive web app</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AB"/>
          </a:solidFill>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Input Features</a:t>
            </a:r>
            <a:endParaRPr lang="en-US" sz="2800" dirty="0"/>
          </a:p>
        </p:txBody>
      </p:sp>
      <p:sp>
        <p:nvSpPr>
          <p:cNvPr id="4" name="Shape 2"/>
          <p:cNvSpPr/>
          <p:nvPr/>
        </p:nvSpPr>
        <p:spPr>
          <a:xfrm>
            <a:off x="548640" y="1188720"/>
            <a:ext cx="8046720" cy="566928"/>
          </a:xfrm>
          <a:prstGeom prst="rect">
            <a:avLst/>
          </a:prstGeom>
          <a:solidFill>
            <a:srgbClr val="F4F6F9"/>
          </a:solidFill>
          <a:ln/>
        </p:spPr>
      </p:sp>
      <p:sp>
        <p:nvSpPr>
          <p:cNvPr id="5" name="Text 3"/>
          <p:cNvSpPr txBox="1"/>
          <p:nvPr/>
        </p:nvSpPr>
        <p:spPr>
          <a:xfrm>
            <a:off x="731520" y="1188720"/>
            <a:ext cx="2926080" cy="566928"/>
          </a:xfrm>
          <a:prstGeom prst="rect">
            <a:avLst/>
          </a:prstGeom>
          <a:noFill/>
          <a:ln/>
        </p:spPr>
        <p:txBody>
          <a:bodyPr wrap="square" lIns="0" tIns="0" rIns="0" bIns="0" rtlCol="0" anchor="ctr"/>
          <a:lstStyle/>
          <a:p>
            <a:pPr indent="0" marL="0">
              <a:buNone/>
            </a:pPr>
            <a:r>
              <a:rPr lang="en-US" sz="1600" b="1" dirty="0">
                <a:solidFill>
                  <a:srgbClr val="1F2A44"/>
                </a:solidFill>
              </a:rPr>
              <a:t>Age</a:t>
            </a:r>
            <a:endParaRPr lang="en-US" sz="1600" dirty="0"/>
          </a:p>
        </p:txBody>
      </p:sp>
      <p:sp>
        <p:nvSpPr>
          <p:cNvPr id="6" name="Text 4"/>
          <p:cNvSpPr txBox="1"/>
          <p:nvPr/>
        </p:nvSpPr>
        <p:spPr>
          <a:xfrm>
            <a:off x="3749040" y="1188720"/>
            <a:ext cx="4754880" cy="566928"/>
          </a:xfrm>
          <a:prstGeom prst="rect">
            <a:avLst/>
          </a:prstGeom>
          <a:noFill/>
          <a:ln/>
        </p:spPr>
        <p:txBody>
          <a:bodyPr wrap="square" lIns="0" tIns="0" rIns="0" bIns="0" rtlCol="0" anchor="ctr"/>
          <a:lstStyle/>
          <a:p>
            <a:pPr indent="0" marL="0">
              <a:buNone/>
            </a:pPr>
            <a:r>
              <a:rPr lang="en-US" sz="1500" dirty="0">
                <a:solidFill>
                  <a:srgbClr val="5A6372"/>
                </a:solidFill>
              </a:rPr>
              <a:t>Customer age in years</a:t>
            </a:r>
            <a:endParaRPr lang="en-US" sz="1500" dirty="0"/>
          </a:p>
        </p:txBody>
      </p:sp>
      <p:sp>
        <p:nvSpPr>
          <p:cNvPr id="7" name="Shape 5"/>
          <p:cNvSpPr/>
          <p:nvPr/>
        </p:nvSpPr>
        <p:spPr>
          <a:xfrm>
            <a:off x="548640" y="1883664"/>
            <a:ext cx="8046720" cy="566928"/>
          </a:xfrm>
          <a:prstGeom prst="rect">
            <a:avLst/>
          </a:prstGeom>
          <a:solidFill>
            <a:srgbClr val="F4F6F9"/>
          </a:solidFill>
          <a:ln/>
        </p:spPr>
      </p:sp>
      <p:sp>
        <p:nvSpPr>
          <p:cNvPr id="8" name="Text 6"/>
          <p:cNvSpPr txBox="1"/>
          <p:nvPr/>
        </p:nvSpPr>
        <p:spPr>
          <a:xfrm>
            <a:off x="731520" y="1883664"/>
            <a:ext cx="2926080" cy="566928"/>
          </a:xfrm>
          <a:prstGeom prst="rect">
            <a:avLst/>
          </a:prstGeom>
          <a:noFill/>
          <a:ln/>
        </p:spPr>
        <p:txBody>
          <a:bodyPr wrap="square" lIns="0" tIns="0" rIns="0" bIns="0" rtlCol="0" anchor="ctr"/>
          <a:lstStyle/>
          <a:p>
            <a:pPr indent="0" marL="0">
              <a:buNone/>
            </a:pPr>
            <a:r>
              <a:rPr lang="en-US" sz="1600" b="1" dirty="0">
                <a:solidFill>
                  <a:srgbClr val="1F2A44"/>
                </a:solidFill>
              </a:rPr>
              <a:t>Previous Purchases</a:t>
            </a:r>
            <a:endParaRPr lang="en-US" sz="1600" dirty="0"/>
          </a:p>
        </p:txBody>
      </p:sp>
      <p:sp>
        <p:nvSpPr>
          <p:cNvPr id="9" name="Text 7"/>
          <p:cNvSpPr txBox="1"/>
          <p:nvPr/>
        </p:nvSpPr>
        <p:spPr>
          <a:xfrm>
            <a:off x="3749040" y="1883664"/>
            <a:ext cx="4754880" cy="566928"/>
          </a:xfrm>
          <a:prstGeom prst="rect">
            <a:avLst/>
          </a:prstGeom>
          <a:noFill/>
          <a:ln/>
        </p:spPr>
        <p:txBody>
          <a:bodyPr wrap="square" lIns="0" tIns="0" rIns="0" bIns="0" rtlCol="0" anchor="ctr"/>
          <a:lstStyle/>
          <a:p>
            <a:pPr indent="0" marL="0">
              <a:buNone/>
            </a:pPr>
            <a:r>
              <a:rPr lang="en-US" sz="1500" dirty="0">
                <a:solidFill>
                  <a:srgbClr val="5A6372"/>
                </a:solidFill>
              </a:rPr>
              <a:t>Count of past orders</a:t>
            </a:r>
            <a:endParaRPr lang="en-US" sz="1500" dirty="0"/>
          </a:p>
        </p:txBody>
      </p:sp>
      <p:sp>
        <p:nvSpPr>
          <p:cNvPr id="10" name="Shape 8"/>
          <p:cNvSpPr/>
          <p:nvPr/>
        </p:nvSpPr>
        <p:spPr>
          <a:xfrm>
            <a:off x="548640" y="2578608"/>
            <a:ext cx="8046720" cy="566928"/>
          </a:xfrm>
          <a:prstGeom prst="rect">
            <a:avLst/>
          </a:prstGeom>
          <a:solidFill>
            <a:srgbClr val="F4F6F9"/>
          </a:solidFill>
          <a:ln/>
        </p:spPr>
      </p:sp>
      <p:sp>
        <p:nvSpPr>
          <p:cNvPr id="11" name="Text 9"/>
          <p:cNvSpPr txBox="1"/>
          <p:nvPr/>
        </p:nvSpPr>
        <p:spPr>
          <a:xfrm>
            <a:off x="731520" y="2578608"/>
            <a:ext cx="2926080" cy="566928"/>
          </a:xfrm>
          <a:prstGeom prst="rect">
            <a:avLst/>
          </a:prstGeom>
          <a:noFill/>
          <a:ln/>
        </p:spPr>
        <p:txBody>
          <a:bodyPr wrap="square" lIns="0" tIns="0" rIns="0" bIns="0" rtlCol="0" anchor="ctr"/>
          <a:lstStyle/>
          <a:p>
            <a:pPr indent="0" marL="0">
              <a:buNone/>
            </a:pPr>
            <a:r>
              <a:rPr lang="en-US" sz="1600" b="1" dirty="0">
                <a:solidFill>
                  <a:srgbClr val="1F2A44"/>
                </a:solidFill>
              </a:rPr>
              <a:t>Review Rating</a:t>
            </a:r>
            <a:endParaRPr lang="en-US" sz="1600" dirty="0"/>
          </a:p>
        </p:txBody>
      </p:sp>
      <p:sp>
        <p:nvSpPr>
          <p:cNvPr id="12" name="Text 10"/>
          <p:cNvSpPr txBox="1"/>
          <p:nvPr/>
        </p:nvSpPr>
        <p:spPr>
          <a:xfrm>
            <a:off x="3749040" y="2578608"/>
            <a:ext cx="4754880" cy="566928"/>
          </a:xfrm>
          <a:prstGeom prst="rect">
            <a:avLst/>
          </a:prstGeom>
          <a:noFill/>
          <a:ln/>
        </p:spPr>
        <p:txBody>
          <a:bodyPr wrap="square" lIns="0" tIns="0" rIns="0" bIns="0" rtlCol="0" anchor="ctr"/>
          <a:lstStyle/>
          <a:p>
            <a:pPr indent="0" marL="0">
              <a:buNone/>
            </a:pPr>
            <a:r>
              <a:rPr lang="en-US" sz="1500" dirty="0">
                <a:solidFill>
                  <a:srgbClr val="5A6372"/>
                </a:solidFill>
              </a:rPr>
              <a:t>Average rating given (numeric)</a:t>
            </a:r>
            <a:endParaRPr lang="en-US" sz="1500" dirty="0"/>
          </a:p>
        </p:txBody>
      </p:sp>
      <p:sp>
        <p:nvSpPr>
          <p:cNvPr id="13" name="Shape 11"/>
          <p:cNvSpPr/>
          <p:nvPr/>
        </p:nvSpPr>
        <p:spPr>
          <a:xfrm>
            <a:off x="548640" y="3273552"/>
            <a:ext cx="8046720" cy="566928"/>
          </a:xfrm>
          <a:prstGeom prst="rect">
            <a:avLst/>
          </a:prstGeom>
          <a:solidFill>
            <a:srgbClr val="F4F6F9"/>
          </a:solidFill>
          <a:ln/>
        </p:spPr>
      </p:sp>
      <p:sp>
        <p:nvSpPr>
          <p:cNvPr id="14" name="Text 12"/>
          <p:cNvSpPr txBox="1"/>
          <p:nvPr/>
        </p:nvSpPr>
        <p:spPr>
          <a:xfrm>
            <a:off x="731520" y="3273552"/>
            <a:ext cx="2926080" cy="566928"/>
          </a:xfrm>
          <a:prstGeom prst="rect">
            <a:avLst/>
          </a:prstGeom>
          <a:noFill/>
          <a:ln/>
        </p:spPr>
        <p:txBody>
          <a:bodyPr wrap="square" lIns="0" tIns="0" rIns="0" bIns="0" rtlCol="0" anchor="ctr"/>
          <a:lstStyle/>
          <a:p>
            <a:pPr indent="0" marL="0">
              <a:buNone/>
            </a:pPr>
            <a:r>
              <a:rPr lang="en-US" sz="1600" b="1" dirty="0">
                <a:solidFill>
                  <a:srgbClr val="1F2A44"/>
                </a:solidFill>
              </a:rPr>
              <a:t>Frequency of Purchases</a:t>
            </a:r>
            <a:endParaRPr lang="en-US" sz="1600" dirty="0"/>
          </a:p>
        </p:txBody>
      </p:sp>
      <p:sp>
        <p:nvSpPr>
          <p:cNvPr id="15" name="Text 13"/>
          <p:cNvSpPr txBox="1"/>
          <p:nvPr/>
        </p:nvSpPr>
        <p:spPr>
          <a:xfrm>
            <a:off x="3749040" y="3273552"/>
            <a:ext cx="4754880" cy="566928"/>
          </a:xfrm>
          <a:prstGeom prst="rect">
            <a:avLst/>
          </a:prstGeom>
          <a:noFill/>
          <a:ln/>
        </p:spPr>
        <p:txBody>
          <a:bodyPr wrap="square" lIns="0" tIns="0" rIns="0" bIns="0" rtlCol="0" anchor="ctr"/>
          <a:lstStyle/>
          <a:p>
            <a:pPr indent="0" marL="0">
              <a:buNone/>
            </a:pPr>
            <a:r>
              <a:rPr lang="en-US" sz="1500" dirty="0">
                <a:solidFill>
                  <a:srgbClr val="5A6372"/>
                </a:solidFill>
              </a:rPr>
              <a:t>Categorical: e.g. Weekly, Fortnightly, Monthly</a:t>
            </a:r>
            <a:endParaRPr lang="en-US" sz="1500" dirty="0"/>
          </a:p>
        </p:txBody>
      </p:sp>
      <p:sp>
        <p:nvSpPr>
          <p:cNvPr id="16" name="Shape 14"/>
          <p:cNvSpPr/>
          <p:nvPr/>
        </p:nvSpPr>
        <p:spPr>
          <a:xfrm>
            <a:off x="548640" y="3968496"/>
            <a:ext cx="8046720" cy="566928"/>
          </a:xfrm>
          <a:prstGeom prst="rect">
            <a:avLst/>
          </a:prstGeom>
          <a:solidFill>
            <a:srgbClr val="F4F6F9"/>
          </a:solidFill>
          <a:ln/>
        </p:spPr>
      </p:sp>
      <p:sp>
        <p:nvSpPr>
          <p:cNvPr id="17" name="Text 15"/>
          <p:cNvSpPr txBox="1"/>
          <p:nvPr/>
        </p:nvSpPr>
        <p:spPr>
          <a:xfrm>
            <a:off x="731520" y="3968496"/>
            <a:ext cx="2926080" cy="566928"/>
          </a:xfrm>
          <a:prstGeom prst="rect">
            <a:avLst/>
          </a:prstGeom>
          <a:noFill/>
          <a:ln/>
        </p:spPr>
        <p:txBody>
          <a:bodyPr wrap="square" lIns="0" tIns="0" rIns="0" bIns="0" rtlCol="0" anchor="ctr"/>
          <a:lstStyle/>
          <a:p>
            <a:pPr indent="0" marL="0">
              <a:buNone/>
            </a:pPr>
            <a:r>
              <a:rPr lang="en-US" sz="1600" b="1" dirty="0">
                <a:solidFill>
                  <a:srgbClr val="1F2A44"/>
                </a:solidFill>
              </a:rPr>
              <a:t>Subscription Status</a:t>
            </a:r>
            <a:endParaRPr lang="en-US" sz="1600" dirty="0"/>
          </a:p>
        </p:txBody>
      </p:sp>
      <p:sp>
        <p:nvSpPr>
          <p:cNvPr id="18" name="Text 16"/>
          <p:cNvSpPr txBox="1"/>
          <p:nvPr/>
        </p:nvSpPr>
        <p:spPr>
          <a:xfrm>
            <a:off x="3749040" y="3968496"/>
            <a:ext cx="4754880" cy="566928"/>
          </a:xfrm>
          <a:prstGeom prst="rect">
            <a:avLst/>
          </a:prstGeom>
          <a:noFill/>
          <a:ln/>
        </p:spPr>
        <p:txBody>
          <a:bodyPr wrap="square" lIns="0" tIns="0" rIns="0" bIns="0" rtlCol="0" anchor="ctr"/>
          <a:lstStyle/>
          <a:p>
            <a:pPr indent="0" marL="0">
              <a:buNone/>
            </a:pPr>
            <a:r>
              <a:rPr lang="en-US" sz="1500" dirty="0">
                <a:solidFill>
                  <a:srgbClr val="5A6372"/>
                </a:solidFill>
              </a:rPr>
              <a:t>Categorical: Yes / No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AB"/>
          </a:solidFill>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Modeling Pipeline</a:t>
            </a:r>
            <a:endParaRPr lang="en-US" sz="2800" dirty="0"/>
          </a:p>
        </p:txBody>
      </p:sp>
      <p:sp>
        <p:nvSpPr>
          <p:cNvPr id="4" name="Shape 2"/>
          <p:cNvSpPr/>
          <p:nvPr/>
        </p:nvSpPr>
        <p:spPr>
          <a:xfrm>
            <a:off x="548640" y="1737360"/>
            <a:ext cx="1463040" cy="1097280"/>
          </a:xfrm>
          <a:prstGeom prst="roundRect">
            <a:avLst>
              <a:gd name="adj" fmla="val 8333"/>
            </a:avLst>
          </a:prstGeom>
          <a:solidFill>
            <a:srgbClr val="1F2A44"/>
          </a:solidFill>
          <a:ln/>
        </p:spPr>
      </p:sp>
      <p:sp>
        <p:nvSpPr>
          <p:cNvPr id="5" name="Text 3"/>
          <p:cNvSpPr txBox="1"/>
          <p:nvPr/>
        </p:nvSpPr>
        <p:spPr>
          <a:xfrm>
            <a:off x="548640" y="1737360"/>
            <a:ext cx="1463040" cy="109728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Data Collection</a:t>
            </a:r>
            <a:endParaRPr lang="en-US" sz="1400" dirty="0"/>
          </a:p>
        </p:txBody>
      </p:sp>
      <p:sp>
        <p:nvSpPr>
          <p:cNvPr id="6" name="Shape 4"/>
          <p:cNvSpPr/>
          <p:nvPr/>
        </p:nvSpPr>
        <p:spPr>
          <a:xfrm>
            <a:off x="2176272" y="1737360"/>
            <a:ext cx="1463040" cy="1097280"/>
          </a:xfrm>
          <a:prstGeom prst="roundRect">
            <a:avLst>
              <a:gd name="adj" fmla="val 8333"/>
            </a:avLst>
          </a:prstGeom>
          <a:solidFill>
            <a:srgbClr val="2E86AB"/>
          </a:solidFill>
          <a:ln/>
        </p:spPr>
      </p:sp>
      <p:sp>
        <p:nvSpPr>
          <p:cNvPr id="7" name="Text 5"/>
          <p:cNvSpPr txBox="1"/>
          <p:nvPr/>
        </p:nvSpPr>
        <p:spPr>
          <a:xfrm>
            <a:off x="2176272" y="1737360"/>
            <a:ext cx="1463040" cy="109728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Preprocessing</a:t>
            </a:r>
            <a:endParaRPr lang="en-US" sz="1400" dirty="0"/>
          </a:p>
        </p:txBody>
      </p:sp>
      <p:sp>
        <p:nvSpPr>
          <p:cNvPr id="8" name="Shape 6"/>
          <p:cNvSpPr/>
          <p:nvPr/>
        </p:nvSpPr>
        <p:spPr>
          <a:xfrm>
            <a:off x="3803904" y="1737360"/>
            <a:ext cx="1463040" cy="1097280"/>
          </a:xfrm>
          <a:prstGeom prst="roundRect">
            <a:avLst>
              <a:gd name="adj" fmla="val 8333"/>
            </a:avLst>
          </a:prstGeom>
          <a:solidFill>
            <a:srgbClr val="1F2A44"/>
          </a:solidFill>
          <a:ln/>
        </p:spPr>
      </p:sp>
      <p:sp>
        <p:nvSpPr>
          <p:cNvPr id="9" name="Text 7"/>
          <p:cNvSpPr txBox="1"/>
          <p:nvPr/>
        </p:nvSpPr>
        <p:spPr>
          <a:xfrm>
            <a:off x="3803904" y="1737360"/>
            <a:ext cx="1463040" cy="109728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Model Training</a:t>
            </a:r>
            <a:endParaRPr lang="en-US" sz="1400" dirty="0"/>
          </a:p>
        </p:txBody>
      </p:sp>
      <p:sp>
        <p:nvSpPr>
          <p:cNvPr id="10" name="Shape 8"/>
          <p:cNvSpPr/>
          <p:nvPr/>
        </p:nvSpPr>
        <p:spPr>
          <a:xfrm>
            <a:off x="5431536" y="1737360"/>
            <a:ext cx="1463040" cy="1097280"/>
          </a:xfrm>
          <a:prstGeom prst="roundRect">
            <a:avLst>
              <a:gd name="adj" fmla="val 8333"/>
            </a:avLst>
          </a:prstGeom>
          <a:solidFill>
            <a:srgbClr val="2E86AB"/>
          </a:solidFill>
          <a:ln/>
        </p:spPr>
      </p:sp>
      <p:sp>
        <p:nvSpPr>
          <p:cNvPr id="11" name="Text 9"/>
          <p:cNvSpPr txBox="1"/>
          <p:nvPr/>
        </p:nvSpPr>
        <p:spPr>
          <a:xfrm>
            <a:off x="5431536" y="1737360"/>
            <a:ext cx="1463040" cy="109728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Evaluation</a:t>
            </a:r>
            <a:endParaRPr lang="en-US" sz="1400" dirty="0"/>
          </a:p>
        </p:txBody>
      </p:sp>
      <p:sp>
        <p:nvSpPr>
          <p:cNvPr id="12" name="Shape 10"/>
          <p:cNvSpPr/>
          <p:nvPr/>
        </p:nvSpPr>
        <p:spPr>
          <a:xfrm>
            <a:off x="7059168" y="1737360"/>
            <a:ext cx="1463040" cy="1097280"/>
          </a:xfrm>
          <a:prstGeom prst="roundRect">
            <a:avLst>
              <a:gd name="adj" fmla="val 8333"/>
            </a:avLst>
          </a:prstGeom>
          <a:solidFill>
            <a:srgbClr val="1F2A44"/>
          </a:solidFill>
          <a:ln/>
        </p:spPr>
      </p:sp>
      <p:sp>
        <p:nvSpPr>
          <p:cNvPr id="13" name="Text 11"/>
          <p:cNvSpPr txBox="1"/>
          <p:nvPr/>
        </p:nvSpPr>
        <p:spPr>
          <a:xfrm>
            <a:off x="7059168" y="1737360"/>
            <a:ext cx="1463040" cy="109728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Deployment</a:t>
            </a:r>
            <a:endParaRPr lang="en-US" sz="1400" dirty="0"/>
          </a:p>
        </p:txBody>
      </p:sp>
      <p:sp>
        <p:nvSpPr>
          <p:cNvPr id="14" name="Text 12"/>
          <p:cNvSpPr txBox="1"/>
          <p:nvPr/>
        </p:nvSpPr>
        <p:spPr>
          <a:xfrm>
            <a:off x="548640" y="3291840"/>
            <a:ext cx="8046720" cy="731520"/>
          </a:xfrm>
          <a:prstGeom prst="rect">
            <a:avLst/>
          </a:prstGeom>
          <a:noFill/>
          <a:ln/>
        </p:spPr>
        <p:txBody>
          <a:bodyPr wrap="square" lIns="0" tIns="0" rIns="0" bIns="0" rtlCol="0" anchor="ctr"/>
          <a:lstStyle/>
          <a:p>
            <a:pPr indent="0" marL="0">
              <a:buNone/>
            </a:pPr>
            <a:r>
              <a:rPr lang="en-US" sz="1600" dirty="0">
                <a:solidFill>
                  <a:srgbClr val="5A6372"/>
                </a:solidFill>
              </a:rPr>
              <a:t>Encode categorical features, scale numeric features, split into train/test sets, then compare classifiers.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AB"/>
          </a:solidFill>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Multi-Class Classification Approach</a:t>
            </a:r>
            <a:endParaRPr lang="en-US" sz="2800" dirty="0"/>
          </a:p>
        </p:txBody>
      </p:sp>
      <p:sp>
        <p:nvSpPr>
          <p:cNvPr id="4" name="Text 2"/>
          <p:cNvSpPr txBox="1"/>
          <p:nvPr/>
        </p:nvSpPr>
        <p:spPr>
          <a:xfrm>
            <a:off x="548640" y="1280160"/>
            <a:ext cx="8046720" cy="3291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5A6372"/>
                </a:solidFill>
              </a:rPr>
              <a:t>Target has 3+ classes, so models output a probability for every category</a:t>
            </a:r>
            <a:endParaRPr lang="en-US" sz="1800" dirty="0"/>
          </a:p>
          <a:p>
            <a:pPr marL="342900" indent="-342900">
              <a:spcAft>
                <a:spcPts val="800"/>
              </a:spcAft>
              <a:buSzPct val="100000"/>
              <a:buChar char="•"/>
            </a:pPr>
            <a:r>
              <a:rPr lang="en-US" sz="1800" dirty="0">
                <a:solidFill>
                  <a:srgbClr val="5A6372"/>
                </a:solidFill>
              </a:rPr>
              <a:t>Candidate models: Logistic Regression, Decision Tree, Random Forest, Gradient Boosting</a:t>
            </a:r>
            <a:endParaRPr lang="en-US" sz="1800" dirty="0"/>
          </a:p>
          <a:p>
            <a:pPr marL="342900" indent="-342900">
              <a:spcAft>
                <a:spcPts val="800"/>
              </a:spcAft>
              <a:buSzPct val="100000"/>
              <a:buChar char="•"/>
            </a:pPr>
            <a:r>
              <a:rPr lang="en-US" sz="1800" dirty="0">
                <a:solidFill>
                  <a:srgbClr val="5A6372"/>
                </a:solidFill>
              </a:rPr>
              <a:t>Metrics: accuracy, macro precision / recall / F1, confusion matrix</a:t>
            </a:r>
            <a:endParaRPr lang="en-US" sz="1800" dirty="0"/>
          </a:p>
          <a:p>
            <a:pPr marL="342900" indent="-342900">
              <a:spcAft>
                <a:spcPts val="800"/>
              </a:spcAft>
              <a:buSzPct val="100000"/>
              <a:buChar char="•"/>
            </a:pPr>
            <a:r>
              <a:rPr lang="en-US" sz="1800" dirty="0">
                <a:solidFill>
                  <a:srgbClr val="5A6372"/>
                </a:solidFill>
              </a:rPr>
              <a:t>Cross-validation to guard against overfitting; pick best by macro F1</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AB"/>
          </a:solidFill>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Web App Demo (Streamlit)</a:t>
            </a:r>
            <a:endParaRPr lang="en-US" sz="2800" dirty="0"/>
          </a:p>
        </p:txBody>
      </p:sp>
      <p:sp>
        <p:nvSpPr>
          <p:cNvPr id="4" name="Text 2"/>
          <p:cNvSpPr txBox="1"/>
          <p:nvPr/>
        </p:nvSpPr>
        <p:spPr>
          <a:xfrm>
            <a:off x="548640" y="1280160"/>
            <a:ext cx="365760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5A6372"/>
                </a:solidFill>
              </a:rPr>
              <a:t>User enters age, purchases, rating, frequency and subscription</a:t>
            </a:r>
            <a:endParaRPr lang="en-US" sz="1600" dirty="0"/>
          </a:p>
          <a:p>
            <a:pPr marL="342900" indent="-342900">
              <a:spcAft>
                <a:spcPts val="800"/>
              </a:spcAft>
              <a:buSzPct val="100000"/>
              <a:buChar char="•"/>
            </a:pPr>
            <a:r>
              <a:rPr lang="en-US" sz="1600" dirty="0">
                <a:solidFill>
                  <a:srgbClr val="5A6372"/>
                </a:solidFill>
              </a:rPr>
              <a:t>One click on "Predict Customer Category"</a:t>
            </a:r>
            <a:endParaRPr lang="en-US" sz="1600" dirty="0"/>
          </a:p>
          <a:p>
            <a:pPr marL="342900" indent="-342900">
              <a:spcAft>
                <a:spcPts val="800"/>
              </a:spcAft>
              <a:buSzPct val="100000"/>
              <a:buChar char="•"/>
            </a:pPr>
            <a:r>
              <a:rPr lang="en-US" sz="1600" dirty="0">
                <a:solidFill>
                  <a:srgbClr val="5A6372"/>
                </a:solidFill>
              </a:rPr>
              <a:t>Model returns the predicted category instantly</a:t>
            </a:r>
            <a:endParaRPr lang="en-US" sz="1600" dirty="0"/>
          </a:p>
        </p:txBody>
      </p:sp>
      <p:pic>
        <p:nvPicPr>
          <p:cNvPr id="5" name="Image 0" descr="/mnt/user-data/uploads/1791136441477_image.png">    </p:cNvPr>
          <p:cNvPicPr>
            <a:picLocks noChangeAspect="1"/>
          </p:cNvPicPr>
          <p:nvPr/>
        </p:nvPicPr>
        <p:blipFill>
          <a:blip r:embed="rId1"/>
          <a:srcRect l="0" r="0" t="0" b="0"/>
          <a:stretch/>
        </p:blipFill>
        <p:spPr>
          <a:xfrm>
            <a:off x="4389120" y="1097280"/>
            <a:ext cx="4389120" cy="34472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AB"/>
          </a:solidFill>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Conclusion &amp; Next Steps</a:t>
            </a:r>
            <a:endParaRPr lang="en-US" sz="2800" dirty="0"/>
          </a:p>
        </p:txBody>
      </p:sp>
      <p:sp>
        <p:nvSpPr>
          <p:cNvPr id="4" name="Text 2"/>
          <p:cNvSpPr txBox="1"/>
          <p:nvPr/>
        </p:nvSpPr>
        <p:spPr>
          <a:xfrm>
            <a:off x="548640" y="1280160"/>
            <a:ext cx="8046720" cy="3291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5A6372"/>
                </a:solidFill>
              </a:rPr>
              <a:t>Behavioral features can segment customers into actionable categories</a:t>
            </a:r>
            <a:endParaRPr lang="en-US" sz="1800" dirty="0"/>
          </a:p>
          <a:p>
            <a:pPr marL="342900" indent="-342900">
              <a:spcAft>
                <a:spcPts val="800"/>
              </a:spcAft>
              <a:buSzPct val="100000"/>
              <a:buChar char="•"/>
            </a:pPr>
            <a:r>
              <a:rPr lang="en-US" sz="1800" dirty="0">
                <a:solidFill>
                  <a:srgbClr val="5A6372"/>
                </a:solidFill>
              </a:rPr>
              <a:t>The Streamlit app makes the model usable by non-technical teams</a:t>
            </a:r>
            <a:endParaRPr lang="en-US" sz="1800" dirty="0"/>
          </a:p>
          <a:p>
            <a:pPr marL="342900" indent="-342900">
              <a:spcAft>
                <a:spcPts val="800"/>
              </a:spcAft>
              <a:buSzPct val="100000"/>
              <a:buChar char="•"/>
            </a:pPr>
            <a:r>
              <a:rPr lang="en-US" sz="1800" dirty="0">
                <a:solidFill>
                  <a:srgbClr val="5A6372"/>
                </a:solidFill>
              </a:rPr>
              <a:t>Next: add more features (spend, product type), tune hyperparameters, monitor drift</a:t>
            </a:r>
            <a:endParaRPr lang="en-US" sz="1800" dirty="0"/>
          </a:p>
          <a:p>
            <a:pPr marL="342900" indent="-342900">
              <a:spcAft>
                <a:spcPts val="800"/>
              </a:spcAft>
              <a:buSzPct val="100000"/>
              <a:buChar char="•"/>
            </a:pPr>
            <a:r>
              <a:rPr lang="en-US" sz="1800" dirty="0">
                <a:solidFill>
                  <a:srgbClr val="5A6372"/>
                </a:solidFill>
              </a:rPr>
              <a:t>Next: connect predictions to marketing campaigns and measure uplift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AB"/>
          </a:solidFill>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Abstract</a:t>
            </a:r>
            <a:endParaRPr lang="en-US" sz="2800" dirty="0"/>
          </a:p>
        </p:txBody>
      </p:sp>
      <p:sp>
        <p:nvSpPr>
          <p:cNvPr id="4" name="Text 2"/>
          <p:cNvSpPr txBox="1"/>
          <p:nvPr/>
        </p:nvSpPr>
        <p:spPr>
          <a:xfrm>
            <a:off x="548640" y="1280160"/>
            <a:ext cx="8046720" cy="3291840"/>
          </a:xfrm>
          <a:prstGeom prst="rect">
            <a:avLst/>
          </a:prstGeom>
          <a:noFill/>
          <a:ln/>
        </p:spPr>
        <p:txBody>
          <a:bodyPr wrap="square" lIns="0" tIns="0" rIns="0" bIns="0" rtlCol="0" anchor="t"/>
          <a:lstStyle/>
          <a:p>
            <a:pPr marL="0" indent="0">
              <a:lnSpc>
                <a:spcPct val="120000"/>
              </a:lnSpc>
              <a:buNone/>
            </a:pPr>
            <a:r>
              <a:rPr lang="en-US" sz="1600" dirty="0">
                <a:solidFill>
                  <a:srgbClr val="5A6372"/>
                </a:solidFill>
              </a:rPr>
              <a:t>Businesses often treat all customers alike and miss chances to personalize offers. This project builds a multi-class classification model that predicts a customer's category from behavioral data: age, previous purchases, review rating, purchase frequency and subscription status. After exploratory data analysis, categorical features are encoded and numeric features scaled, then Logistic Regression, Decision Tree, Random Forest and Gradient Boosting are compared using cross-validation and macro F1. The best model is deployed in a Streamlit web app so non-technical teams can get instant predictions for targeted marketing and retention.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AB"/>
          </a:solidFill>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Exploratory Data Analysis (EDA)</a:t>
            </a:r>
            <a:endParaRPr lang="en-US" sz="2800" dirty="0"/>
          </a:p>
        </p:txBody>
      </p:sp>
      <p:sp>
        <p:nvSpPr>
          <p:cNvPr id="4" name="Shape 2"/>
          <p:cNvSpPr/>
          <p:nvPr/>
        </p:nvSpPr>
        <p:spPr>
          <a:xfrm>
            <a:off x="548640" y="1188720"/>
            <a:ext cx="8046720" cy="566928"/>
          </a:xfrm>
          <a:prstGeom prst="rect">
            <a:avLst/>
          </a:prstGeom>
          <a:solidFill>
            <a:srgbClr val="F4F6F9"/>
          </a:solidFill>
          <a:ln/>
        </p:spPr>
      </p:sp>
      <p:sp>
        <p:nvSpPr>
          <p:cNvPr id="5" name="Text 3"/>
          <p:cNvSpPr txBox="1"/>
          <p:nvPr/>
        </p:nvSpPr>
        <p:spPr>
          <a:xfrm>
            <a:off x="731520" y="1188720"/>
            <a:ext cx="2926080" cy="566928"/>
          </a:xfrm>
          <a:prstGeom prst="rect">
            <a:avLst/>
          </a:prstGeom>
          <a:noFill/>
          <a:ln/>
        </p:spPr>
        <p:txBody>
          <a:bodyPr wrap="square" lIns="0" tIns="0" rIns="0" bIns="0" rtlCol="0" anchor="ctr"/>
          <a:lstStyle/>
          <a:p>
            <a:pPr indent="0" marL="0">
              <a:buNone/>
            </a:pPr>
            <a:r>
              <a:rPr lang="en-US" sz="1600" b="1" dirty="0">
                <a:solidFill>
                  <a:srgbClr val="1F2A44"/>
                </a:solidFill>
              </a:rPr>
              <a:t>Data Quality</a:t>
            </a:r>
            <a:endParaRPr lang="en-US" sz="1600" dirty="0"/>
          </a:p>
        </p:txBody>
      </p:sp>
      <p:sp>
        <p:nvSpPr>
          <p:cNvPr id="6" name="Text 4"/>
          <p:cNvSpPr txBox="1"/>
          <p:nvPr/>
        </p:nvSpPr>
        <p:spPr>
          <a:xfrm>
            <a:off x="3749040" y="1188720"/>
            <a:ext cx="4754880" cy="566928"/>
          </a:xfrm>
          <a:prstGeom prst="rect">
            <a:avLst/>
          </a:prstGeom>
          <a:noFill/>
          <a:ln/>
        </p:spPr>
        <p:txBody>
          <a:bodyPr wrap="square" lIns="0" tIns="0" rIns="0" bIns="0" rtlCol="0" anchor="ctr"/>
          <a:lstStyle/>
          <a:p>
            <a:pPr indent="0" marL="0">
              <a:buNone/>
            </a:pPr>
            <a:r>
              <a:rPr lang="en-US" sz="1500" dirty="0">
                <a:solidFill>
                  <a:srgbClr val="5A6372"/>
                </a:solidFill>
              </a:rPr>
              <a:t>Checked missing values, duplicates and data types</a:t>
            </a:r>
            <a:endParaRPr lang="en-US" sz="1500" dirty="0"/>
          </a:p>
        </p:txBody>
      </p:sp>
      <p:sp>
        <p:nvSpPr>
          <p:cNvPr id="7" name="Shape 5"/>
          <p:cNvSpPr/>
          <p:nvPr/>
        </p:nvSpPr>
        <p:spPr>
          <a:xfrm>
            <a:off x="548640" y="1883664"/>
            <a:ext cx="8046720" cy="566928"/>
          </a:xfrm>
          <a:prstGeom prst="rect">
            <a:avLst/>
          </a:prstGeom>
          <a:solidFill>
            <a:srgbClr val="F4F6F9"/>
          </a:solidFill>
          <a:ln/>
        </p:spPr>
      </p:sp>
      <p:sp>
        <p:nvSpPr>
          <p:cNvPr id="8" name="Text 6"/>
          <p:cNvSpPr txBox="1"/>
          <p:nvPr/>
        </p:nvSpPr>
        <p:spPr>
          <a:xfrm>
            <a:off x="731520" y="1883664"/>
            <a:ext cx="2926080" cy="566928"/>
          </a:xfrm>
          <a:prstGeom prst="rect">
            <a:avLst/>
          </a:prstGeom>
          <a:noFill/>
          <a:ln/>
        </p:spPr>
        <p:txBody>
          <a:bodyPr wrap="square" lIns="0" tIns="0" rIns="0" bIns="0" rtlCol="0" anchor="ctr"/>
          <a:lstStyle/>
          <a:p>
            <a:pPr indent="0" marL="0">
              <a:buNone/>
            </a:pPr>
            <a:r>
              <a:rPr lang="en-US" sz="1600" b="1" dirty="0">
                <a:solidFill>
                  <a:srgbClr val="1F2A44"/>
                </a:solidFill>
              </a:rPr>
              <a:t>Numeric Features</a:t>
            </a:r>
            <a:endParaRPr lang="en-US" sz="1600" dirty="0"/>
          </a:p>
        </p:txBody>
      </p:sp>
      <p:sp>
        <p:nvSpPr>
          <p:cNvPr id="9" name="Text 7"/>
          <p:cNvSpPr txBox="1"/>
          <p:nvPr/>
        </p:nvSpPr>
        <p:spPr>
          <a:xfrm>
            <a:off x="3749040" y="1883664"/>
            <a:ext cx="4754880" cy="566928"/>
          </a:xfrm>
          <a:prstGeom prst="rect">
            <a:avLst/>
          </a:prstGeom>
          <a:noFill/>
          <a:ln/>
        </p:spPr>
        <p:txBody>
          <a:bodyPr wrap="square" lIns="0" tIns="0" rIns="0" bIns="0" rtlCol="0" anchor="ctr"/>
          <a:lstStyle/>
          <a:p>
            <a:pPr indent="0" marL="0">
              <a:buNone/>
            </a:pPr>
            <a:r>
              <a:rPr lang="en-US" sz="1500" dirty="0">
                <a:solidFill>
                  <a:srgbClr val="5A6372"/>
                </a:solidFill>
              </a:rPr>
              <a:t>Age, purchases, rating: distributions and outliers</a:t>
            </a:r>
            <a:endParaRPr lang="en-US" sz="1500" dirty="0"/>
          </a:p>
        </p:txBody>
      </p:sp>
      <p:sp>
        <p:nvSpPr>
          <p:cNvPr id="10" name="Shape 8"/>
          <p:cNvSpPr/>
          <p:nvPr/>
        </p:nvSpPr>
        <p:spPr>
          <a:xfrm>
            <a:off x="548640" y="2578608"/>
            <a:ext cx="8046720" cy="566928"/>
          </a:xfrm>
          <a:prstGeom prst="rect">
            <a:avLst/>
          </a:prstGeom>
          <a:solidFill>
            <a:srgbClr val="F4F6F9"/>
          </a:solidFill>
          <a:ln/>
        </p:spPr>
      </p:sp>
      <p:sp>
        <p:nvSpPr>
          <p:cNvPr id="11" name="Text 9"/>
          <p:cNvSpPr txBox="1"/>
          <p:nvPr/>
        </p:nvSpPr>
        <p:spPr>
          <a:xfrm>
            <a:off x="731520" y="2578608"/>
            <a:ext cx="2926080" cy="566928"/>
          </a:xfrm>
          <a:prstGeom prst="rect">
            <a:avLst/>
          </a:prstGeom>
          <a:noFill/>
          <a:ln/>
        </p:spPr>
        <p:txBody>
          <a:bodyPr wrap="square" lIns="0" tIns="0" rIns="0" bIns="0" rtlCol="0" anchor="ctr"/>
          <a:lstStyle/>
          <a:p>
            <a:pPr indent="0" marL="0">
              <a:buNone/>
            </a:pPr>
            <a:r>
              <a:rPr lang="en-US" sz="1600" b="1" dirty="0">
                <a:solidFill>
                  <a:srgbClr val="1F2A44"/>
                </a:solidFill>
              </a:rPr>
              <a:t>Categorical Features</a:t>
            </a:r>
            <a:endParaRPr lang="en-US" sz="1600" dirty="0"/>
          </a:p>
        </p:txBody>
      </p:sp>
      <p:sp>
        <p:nvSpPr>
          <p:cNvPr id="12" name="Text 10"/>
          <p:cNvSpPr txBox="1"/>
          <p:nvPr/>
        </p:nvSpPr>
        <p:spPr>
          <a:xfrm>
            <a:off x="3749040" y="2578608"/>
            <a:ext cx="4754880" cy="566928"/>
          </a:xfrm>
          <a:prstGeom prst="rect">
            <a:avLst/>
          </a:prstGeom>
          <a:noFill/>
          <a:ln/>
        </p:spPr>
        <p:txBody>
          <a:bodyPr wrap="square" lIns="0" tIns="0" rIns="0" bIns="0" rtlCol="0" anchor="ctr"/>
          <a:lstStyle/>
          <a:p>
            <a:pPr indent="0" marL="0">
              <a:buNone/>
            </a:pPr>
            <a:r>
              <a:rPr lang="en-US" sz="1500" dirty="0">
                <a:solidFill>
                  <a:srgbClr val="5A6372"/>
                </a:solidFill>
              </a:rPr>
              <a:t>Frequency and subscription: category counts</a:t>
            </a:r>
            <a:endParaRPr lang="en-US" sz="1500" dirty="0"/>
          </a:p>
        </p:txBody>
      </p:sp>
      <p:sp>
        <p:nvSpPr>
          <p:cNvPr id="13" name="Shape 11"/>
          <p:cNvSpPr/>
          <p:nvPr/>
        </p:nvSpPr>
        <p:spPr>
          <a:xfrm>
            <a:off x="548640" y="3273552"/>
            <a:ext cx="8046720" cy="566928"/>
          </a:xfrm>
          <a:prstGeom prst="rect">
            <a:avLst/>
          </a:prstGeom>
          <a:solidFill>
            <a:srgbClr val="F4F6F9"/>
          </a:solidFill>
          <a:ln/>
        </p:spPr>
      </p:sp>
      <p:sp>
        <p:nvSpPr>
          <p:cNvPr id="14" name="Text 12"/>
          <p:cNvSpPr txBox="1"/>
          <p:nvPr/>
        </p:nvSpPr>
        <p:spPr>
          <a:xfrm>
            <a:off x="731520" y="3273552"/>
            <a:ext cx="2926080" cy="566928"/>
          </a:xfrm>
          <a:prstGeom prst="rect">
            <a:avLst/>
          </a:prstGeom>
          <a:noFill/>
          <a:ln/>
        </p:spPr>
        <p:txBody>
          <a:bodyPr wrap="square" lIns="0" tIns="0" rIns="0" bIns="0" rtlCol="0" anchor="ctr"/>
          <a:lstStyle/>
          <a:p>
            <a:pPr indent="0" marL="0">
              <a:buNone/>
            </a:pPr>
            <a:r>
              <a:rPr lang="en-US" sz="1600" b="1" dirty="0">
                <a:solidFill>
                  <a:srgbClr val="1F2A44"/>
                </a:solidFill>
              </a:rPr>
              <a:t>Target Distribution</a:t>
            </a:r>
            <a:endParaRPr lang="en-US" sz="1600" dirty="0"/>
          </a:p>
        </p:txBody>
      </p:sp>
      <p:sp>
        <p:nvSpPr>
          <p:cNvPr id="15" name="Text 13"/>
          <p:cNvSpPr txBox="1"/>
          <p:nvPr/>
        </p:nvSpPr>
        <p:spPr>
          <a:xfrm>
            <a:off x="3749040" y="3273552"/>
            <a:ext cx="4754880" cy="566928"/>
          </a:xfrm>
          <a:prstGeom prst="rect">
            <a:avLst/>
          </a:prstGeom>
          <a:noFill/>
          <a:ln/>
        </p:spPr>
        <p:txBody>
          <a:bodyPr wrap="square" lIns="0" tIns="0" rIns="0" bIns="0" rtlCol="0" anchor="ctr"/>
          <a:lstStyle/>
          <a:p>
            <a:pPr indent="0" marL="0">
              <a:buNone/>
            </a:pPr>
            <a:r>
              <a:rPr lang="en-US" sz="1500" dirty="0">
                <a:solidFill>
                  <a:srgbClr val="5A6372"/>
                </a:solidFill>
              </a:rPr>
              <a:t>Class balance across customer categories</a:t>
            </a:r>
            <a:endParaRPr lang="en-US" sz="1500" dirty="0"/>
          </a:p>
        </p:txBody>
      </p:sp>
      <p:sp>
        <p:nvSpPr>
          <p:cNvPr id="16" name="Shape 14"/>
          <p:cNvSpPr/>
          <p:nvPr/>
        </p:nvSpPr>
        <p:spPr>
          <a:xfrm>
            <a:off x="548640" y="3968496"/>
            <a:ext cx="8046720" cy="566928"/>
          </a:xfrm>
          <a:prstGeom prst="rect">
            <a:avLst/>
          </a:prstGeom>
          <a:solidFill>
            <a:srgbClr val="F4F6F9"/>
          </a:solidFill>
          <a:ln/>
        </p:spPr>
      </p:sp>
      <p:sp>
        <p:nvSpPr>
          <p:cNvPr id="17" name="Text 15"/>
          <p:cNvSpPr txBox="1"/>
          <p:nvPr/>
        </p:nvSpPr>
        <p:spPr>
          <a:xfrm>
            <a:off x="731520" y="3968496"/>
            <a:ext cx="2926080" cy="566928"/>
          </a:xfrm>
          <a:prstGeom prst="rect">
            <a:avLst/>
          </a:prstGeom>
          <a:noFill/>
          <a:ln/>
        </p:spPr>
        <p:txBody>
          <a:bodyPr wrap="square" lIns="0" tIns="0" rIns="0" bIns="0" rtlCol="0" anchor="ctr"/>
          <a:lstStyle/>
          <a:p>
            <a:pPr indent="0" marL="0">
              <a:buNone/>
            </a:pPr>
            <a:r>
              <a:rPr lang="en-US" sz="1600" b="1" dirty="0">
                <a:solidFill>
                  <a:srgbClr val="1F2A44"/>
                </a:solidFill>
              </a:rPr>
              <a:t>Feature vs Target</a:t>
            </a:r>
            <a:endParaRPr lang="en-US" sz="1600" dirty="0"/>
          </a:p>
        </p:txBody>
      </p:sp>
      <p:sp>
        <p:nvSpPr>
          <p:cNvPr id="18" name="Text 16"/>
          <p:cNvSpPr txBox="1"/>
          <p:nvPr/>
        </p:nvSpPr>
        <p:spPr>
          <a:xfrm>
            <a:off x="3749040" y="3968496"/>
            <a:ext cx="4754880" cy="566928"/>
          </a:xfrm>
          <a:prstGeom prst="rect">
            <a:avLst/>
          </a:prstGeom>
          <a:noFill/>
          <a:ln/>
        </p:spPr>
        <p:txBody>
          <a:bodyPr wrap="square" lIns="0" tIns="0" rIns="0" bIns="0" rtlCol="0" anchor="ctr"/>
          <a:lstStyle/>
          <a:p>
            <a:pPr indent="0" marL="0">
              <a:buNone/>
            </a:pPr>
            <a:r>
              <a:rPr lang="en-US" sz="1500" dirty="0">
                <a:solidFill>
                  <a:srgbClr val="5A6372"/>
                </a:solidFill>
              </a:rPr>
              <a:t>Box plots, grouped bars and correlation heatmap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2026-10-04T17:54:54Z</dcterms:created>
  <dcterms:modified xsi:type="dcterms:W3CDTF">2026-10-04T17:54:54Z</dcterms:modified>
</cp:coreProperties>
</file>